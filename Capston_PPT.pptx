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31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433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DATA SCIENCE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Netflix Content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6675120" y="1188720"/>
            <a:ext cx="54864" cy="20116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12280" y="11887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9,000+ titles to uncover trends,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patterns, and content strategy insights.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12280" y="2743200"/>
            <a:ext cx="201168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1228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n_movies.csv  |  9,957 rows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Aarush Gupta  ·  Kashish  ·  Mannat Bansal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1234440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651760" cy="32004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65176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🏢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types of content perform best on Netflix, and what drives high viewer ratings?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463040"/>
            <a:ext cx="2651760" cy="32004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463040"/>
            <a:ext cx="265176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1645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7889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platforms invest billions in content — understanding patterns helps optimize production strategy.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463040"/>
            <a:ext cx="2651760" cy="32004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89320" y="1463040"/>
            <a:ext cx="265176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89320" y="1645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7889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wrangling and visualization to surface actionable insights from 9,957 Netflix titles.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Description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82880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9,957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417320"/>
            <a:ext cx="182880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417320"/>
            <a:ext cx="182880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1920s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Year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417320"/>
            <a:ext cx="182880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751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Year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8046720" cy="2707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show/movie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year or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rating (TV-MA, PG, etc.)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in minutes or seasons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 tags (may be multiple)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IMDb-style user rating (0–10)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plot summary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cast members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user votes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bg"/>
          <p:cNvSpPr/>
          <p:nvPr/>
        </p:nvSpPr>
        <p:spPr>
          <a:xfrm>
            <a:off x="457200" y="164592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03 · WRANGLING</a:t>
            </a:r>
            <a:endParaRPr lang="en-US" sz="900" dirty="0"/>
          </a:p>
        </p:txBody>
      </p:sp>
      <p:sp>
        <p:nvSpPr>
          <p:cNvPr id="3" name="Title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18" charset="0"/>
              </a:rPr>
              <a:t>Data Wrangling Steps</a:t>
            </a:r>
            <a:endParaRPr lang="en-US" sz="3400" dirty="0"/>
          </a:p>
        </p:txBody>
      </p:sp>
      <p:sp>
        <p:nvSpPr>
          <p:cNvPr id="4" name="Accent bar"/>
          <p:cNvSpPr/>
          <p:nvPr/>
        </p:nvSpPr>
        <p:spPr>
          <a:xfrm>
            <a:off x="0" y="1188720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Card bg 01"/>
          <p:cNvSpPr/>
          <p:nvPr/>
        </p:nvSpPr>
        <p:spPr>
          <a:xfrm>
            <a:off x="320040" y="1371600"/>
            <a:ext cx="4114800" cy="17373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Badge 01"/>
          <p:cNvSpPr/>
          <p:nvPr/>
        </p:nvSpPr>
        <p:spPr>
          <a:xfrm>
            <a:off x="320040" y="1371600"/>
            <a:ext cx="548640" cy="17373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18" charset="0"/>
              </a:rPr>
              <a:t>01</a:t>
            </a:r>
            <a:endParaRPr lang="en-US" sz="1500" dirty="0"/>
          </a:p>
        </p:txBody>
      </p:sp>
      <p:sp>
        <p:nvSpPr>
          <p:cNvPr id="7" name="Step title 01"/>
          <p:cNvSpPr/>
          <p:nvPr/>
        </p:nvSpPr>
        <p:spPr>
          <a:xfrm>
            <a:off x="960120" y="1463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</a:rPr>
              <a:t>Load &amp; Inspect</a:t>
            </a:r>
            <a:endParaRPr lang="en-US" sz="1300" dirty="0"/>
          </a:p>
        </p:txBody>
      </p:sp>
      <p:sp>
        <p:nvSpPr>
          <p:cNvPr id="8" name="Bullet 01-0"/>
          <p:cNvSpPr/>
          <p:nvPr/>
        </p:nvSpPr>
        <p:spPr>
          <a:xfrm>
            <a:off x="960120" y="18745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</a:rPr>
              <a:t>▸ 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</a:rPr>
              <a:t>Read CSV with pandas</a:t>
            </a:r>
            <a:endParaRPr lang="en-US" sz="1100" dirty="0"/>
          </a:p>
        </p:txBody>
      </p:sp>
      <p:sp>
        <p:nvSpPr>
          <p:cNvPr id="9" name="Bullet 01-1"/>
          <p:cNvSpPr/>
          <p:nvPr/>
        </p:nvSpPr>
        <p:spPr>
          <a:xfrm>
            <a:off x="960120" y="2221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</a:rPr>
              <a:t>▸ 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</a:rPr>
              <a:t>Check shape, dtypes, .head()</a:t>
            </a:r>
            <a:endParaRPr lang="en-US" sz="1100" dirty="0"/>
          </a:p>
        </p:txBody>
      </p:sp>
      <p:sp>
        <p:nvSpPr>
          <p:cNvPr id="10" name="Bullet 01-2"/>
          <p:cNvSpPr/>
          <p:nvPr/>
        </p:nvSpPr>
        <p:spPr>
          <a:xfrm>
            <a:off x="960120" y="25694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</a:rPr>
              <a:t>▸ 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</a:rPr>
              <a:t>Identify null counts per column</a:t>
            </a:r>
            <a:endParaRPr lang="en-US" sz="1100" dirty="0"/>
          </a:p>
        </p:txBody>
      </p:sp>
      <p:sp>
        <p:nvSpPr>
          <p:cNvPr id="11" name="Card bg 02"/>
          <p:cNvSpPr/>
          <p:nvPr/>
        </p:nvSpPr>
        <p:spPr>
          <a:xfrm>
            <a:off x="4709160" y="1371600"/>
            <a:ext cx="4114800" cy="17373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Badge 02"/>
          <p:cNvSpPr/>
          <p:nvPr/>
        </p:nvSpPr>
        <p:spPr>
          <a:xfrm>
            <a:off x="4709160" y="1371600"/>
            <a:ext cx="548640" cy="17373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18" charset="0"/>
              </a:rPr>
              <a:t>02</a:t>
            </a:r>
            <a:endParaRPr lang="en-US" sz="1500" dirty="0"/>
          </a:p>
        </p:txBody>
      </p:sp>
      <p:sp>
        <p:nvSpPr>
          <p:cNvPr id="13" name="Step title 02"/>
          <p:cNvSpPr/>
          <p:nvPr/>
        </p:nvSpPr>
        <p:spPr>
          <a:xfrm>
            <a:off x="5349240" y="1463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</a:rPr>
              <a:t>Handle Missing Values</a:t>
            </a:r>
            <a:endParaRPr lang="en-US" sz="1300" dirty="0"/>
          </a:p>
        </p:txBody>
      </p:sp>
      <p:sp>
        <p:nvSpPr>
          <p:cNvPr id="14" name="Bullet 02-0"/>
          <p:cNvSpPr/>
          <p:nvPr/>
        </p:nvSpPr>
        <p:spPr>
          <a:xfrm>
            <a:off x="5349240" y="18745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</a:rPr>
              <a:t>▸ 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</a:rPr>
              <a:t>Dropped rows with null rating/votes</a:t>
            </a:r>
            <a:endParaRPr lang="en-US" sz="1100" dirty="0"/>
          </a:p>
        </p:txBody>
      </p:sp>
      <p:sp>
        <p:nvSpPr>
          <p:cNvPr id="15" name="Bullet 02-1"/>
          <p:cNvSpPr/>
          <p:nvPr/>
        </p:nvSpPr>
        <p:spPr>
          <a:xfrm>
            <a:off x="5349240" y="2221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</a:rPr>
              <a:t>▸ 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</a:rPr>
              <a:t>Filled certificate NaN → 'Not Rated'</a:t>
            </a:r>
            <a:endParaRPr lang="en-US" sz="1100" dirty="0"/>
          </a:p>
        </p:txBody>
      </p:sp>
      <p:sp>
        <p:nvSpPr>
          <p:cNvPr id="16" name="Bullet 02-2"/>
          <p:cNvSpPr/>
          <p:nvPr/>
        </p:nvSpPr>
        <p:spPr>
          <a:xfrm>
            <a:off x="5349240" y="25694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</a:rPr>
              <a:t>▸ 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</a:rPr>
              <a:t>Checked description completeness</a:t>
            </a:r>
            <a:endParaRPr lang="en-US" sz="1100" dirty="0"/>
          </a:p>
        </p:txBody>
      </p:sp>
      <p:sp>
        <p:nvSpPr>
          <p:cNvPr id="17" name="Card bg 03"/>
          <p:cNvSpPr/>
          <p:nvPr/>
        </p:nvSpPr>
        <p:spPr>
          <a:xfrm>
            <a:off x="320040" y="3246120"/>
            <a:ext cx="4114800" cy="17373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Badge 03"/>
          <p:cNvSpPr/>
          <p:nvPr/>
        </p:nvSpPr>
        <p:spPr>
          <a:xfrm>
            <a:off x="320040" y="3246120"/>
            <a:ext cx="548640" cy="17373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18" charset="0"/>
              </a:rPr>
              <a:t>03</a:t>
            </a:r>
            <a:endParaRPr lang="en-US" sz="1500" dirty="0"/>
          </a:p>
        </p:txBody>
      </p:sp>
      <p:sp>
        <p:nvSpPr>
          <p:cNvPr id="19" name="Step title 03"/>
          <p:cNvSpPr/>
          <p:nvPr/>
        </p:nvSpPr>
        <p:spPr>
          <a:xfrm>
            <a:off x="960120" y="3337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</a:rPr>
              <a:t>Fix Data Types</a:t>
            </a:r>
            <a:endParaRPr lang="en-US" sz="1300" dirty="0"/>
          </a:p>
        </p:txBody>
      </p:sp>
      <p:sp>
        <p:nvSpPr>
          <p:cNvPr id="20" name="Bullet 03-0"/>
          <p:cNvSpPr/>
          <p:nvPr/>
        </p:nvSpPr>
        <p:spPr>
          <a:xfrm>
            <a:off x="960120" y="3749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</a:rPr>
              <a:t>▸ 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</a:rPr>
              <a:t>Cleaned 'votes' column (removed commas)</a:t>
            </a:r>
            <a:endParaRPr lang="en-US" sz="1100" dirty="0"/>
          </a:p>
        </p:txBody>
      </p:sp>
      <p:sp>
        <p:nvSpPr>
          <p:cNvPr id="21" name="Bullet 03-1"/>
          <p:cNvSpPr/>
          <p:nvPr/>
        </p:nvSpPr>
        <p:spPr>
          <a:xfrm>
            <a:off x="960120" y="40965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</a:rPr>
              <a:t>▸ 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</a:rPr>
              <a:t>Converted votes → int64</a:t>
            </a:r>
            <a:endParaRPr lang="en-US" sz="1100" dirty="0"/>
          </a:p>
        </p:txBody>
      </p:sp>
      <p:sp>
        <p:nvSpPr>
          <p:cNvPr id="22" name="Bullet 03-2"/>
          <p:cNvSpPr/>
          <p:nvPr/>
        </p:nvSpPr>
        <p:spPr>
          <a:xfrm>
            <a:off x="960120" y="44439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</a:rPr>
              <a:t>▸ 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</a:rPr>
              <a:t>Extracted numeric year from year column</a:t>
            </a:r>
            <a:endParaRPr lang="en-US" sz="1100" dirty="0"/>
          </a:p>
        </p:txBody>
      </p:sp>
      <p:sp>
        <p:nvSpPr>
          <p:cNvPr id="23" name="Card bg 04"/>
          <p:cNvSpPr/>
          <p:nvPr/>
        </p:nvSpPr>
        <p:spPr>
          <a:xfrm>
            <a:off x="4709160" y="3246120"/>
            <a:ext cx="4114800" cy="17373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Badge 04"/>
          <p:cNvSpPr/>
          <p:nvPr/>
        </p:nvSpPr>
        <p:spPr>
          <a:xfrm>
            <a:off x="4709160" y="3246120"/>
            <a:ext cx="548640" cy="17373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18" charset="0"/>
              </a:rPr>
              <a:t>04</a:t>
            </a:r>
            <a:endParaRPr lang="en-US" sz="1500" dirty="0"/>
          </a:p>
        </p:txBody>
      </p:sp>
      <p:sp>
        <p:nvSpPr>
          <p:cNvPr id="25" name="Step title 04"/>
          <p:cNvSpPr/>
          <p:nvPr/>
        </p:nvSpPr>
        <p:spPr>
          <a:xfrm>
            <a:off x="5349240" y="3337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</a:rPr>
              <a:t>Transform &amp; Engineer</a:t>
            </a:r>
            <a:endParaRPr lang="en-US" sz="1300" dirty="0"/>
          </a:p>
        </p:txBody>
      </p:sp>
      <p:sp>
        <p:nvSpPr>
          <p:cNvPr id="26" name="Bullet 04-0"/>
          <p:cNvSpPr/>
          <p:nvPr/>
        </p:nvSpPr>
        <p:spPr>
          <a:xfrm>
            <a:off x="5349240" y="3749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</a:rPr>
              <a:t>▸ 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</a:rPr>
              <a:t>Extracted primary genre from multi-genre field</a:t>
            </a:r>
            <a:endParaRPr lang="en-US" sz="1100" dirty="0"/>
          </a:p>
        </p:txBody>
      </p:sp>
      <p:sp>
        <p:nvSpPr>
          <p:cNvPr id="27" name="Bullet 04-1"/>
          <p:cNvSpPr/>
          <p:nvPr/>
        </p:nvSpPr>
        <p:spPr>
          <a:xfrm>
            <a:off x="5349240" y="40965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</a:rPr>
              <a:t>▸ 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</a:rPr>
              <a:t>Cleaned duration to numeric minutes</a:t>
            </a:r>
            <a:endParaRPr lang="en-US" sz="1100" dirty="0"/>
          </a:p>
        </p:txBody>
      </p:sp>
      <p:sp>
        <p:nvSpPr>
          <p:cNvPr id="28" name="Bullet 04-2"/>
          <p:cNvSpPr/>
          <p:nvPr/>
        </p:nvSpPr>
        <p:spPr>
          <a:xfrm>
            <a:off x="5349240" y="44439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</a:rPr>
              <a:t>▸ 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</a:rPr>
              <a:t>Created decade column from year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VISUALIZATIONS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5 Key Visualizations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60604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Plot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genres by number of titles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37160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371600"/>
            <a:ext cx="260604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🥧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46120" y="1965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/ Good / Average rating categories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89320" y="137160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89320" y="1371600"/>
            <a:ext cx="260604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8932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80760" y="1965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80760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IMDb ratings across titles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645920" y="306324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45920" y="3063240"/>
            <a:ext cx="260604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64592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737360" y="3657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737360" y="3977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vs Votes colour-coded by category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306324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80560" y="3063240"/>
            <a:ext cx="260604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8056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572000" y="3657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0" y="3977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titles released per year (2000–2025)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Viz 1 · Bar Chart</a:t>
            </a:r>
            <a:endParaRPr lang="en-US" sz="900" dirty="0"/>
          </a:p>
        </p:txBody>
      </p:sp>
      <p:sp>
        <p:nvSpPr>
          <p:cNvPr id="3" name="Title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18" charset="0"/>
              </a:rPr>
              <a:t>Top 10 Genres by Number of Titles</a:t>
            </a:r>
            <a:endParaRPr lang="en-US" sz="3000" dirty="0"/>
          </a:p>
        </p:txBody>
      </p:sp>
      <p:pic>
        <p:nvPicPr>
          <p:cNvPr id="4" name="Char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852160" cy="3749040"/>
          </a:xfrm>
          <a:prstGeom prst="rect">
            <a:avLst/>
          </a:prstGeom>
        </p:spPr>
      </p:pic>
      <p:sp>
        <p:nvSpPr>
          <p:cNvPr id="6" name="InsightBg"/>
          <p:cNvSpPr/>
          <p:nvPr/>
        </p:nvSpPr>
        <p:spPr>
          <a:xfrm>
            <a:off x="6263640" y="1188720"/>
            <a:ext cx="2560320" cy="3749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InsightStripe"/>
          <p:cNvSpPr/>
          <p:nvPr/>
        </p:nvSpPr>
        <p:spPr>
          <a:xfrm>
            <a:off x="6263640" y="1188720"/>
            <a:ext cx="256032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InsightTitle"/>
          <p:cNvSpPr/>
          <p:nvPr/>
        </p:nvSpPr>
        <p:spPr>
          <a:xfrm>
            <a:off x="64008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</a:rPr>
              <a:t>💡 Key Insight</a:t>
            </a:r>
            <a:endParaRPr lang="en-US" sz="1300" dirty="0"/>
          </a:p>
        </p:txBody>
      </p:sp>
      <p:sp>
        <p:nvSpPr>
          <p:cNvPr id="9" name="InsightBody"/>
          <p:cNvSpPr/>
          <p:nvPr/>
        </p:nvSpPr>
        <p:spPr>
          <a:xfrm>
            <a:off x="6400800" y="1719072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Comedy dominates Netflix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3B3B3"/>
                </a:solidFill>
                <a:latin typeface="Calibri" pitchFamily="34" charset="0"/>
              </a:rPr>
              <a:t>with the most titles, followed by Drama and Action. Documentary has fewer titles but consistently higher ratings.</a:t>
            </a:r>
            <a:endParaRPr lang="en-US" sz="1150" dirty="0"/>
          </a:p>
        </p:txBody>
      </p:sp>
      <p:sp>
        <p:nvSpPr>
          <p:cNvPr id="10" name="InsightFooter"/>
          <p:cNvSpPr/>
          <p:nvPr/>
        </p:nvSpPr>
        <p:spPr>
          <a:xfrm>
            <a:off x="640080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</a:rPr>
              <a:t>Based on actual dataset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Viz 2 · Pie Chart</a:t>
            </a:r>
            <a:endParaRPr lang="en-US" sz="900" dirty="0"/>
          </a:p>
        </p:txBody>
      </p:sp>
      <p:sp>
        <p:nvSpPr>
          <p:cNvPr id="3" name="Title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4"/>
                </a:solidFill>
                <a:latin typeface="Georgia" pitchFamily="18" charset="0"/>
              </a:rPr>
              <a:t>Rating Category Distribution</a:t>
            </a:r>
            <a:endParaRPr lang="en-US" sz="3000" dirty="0"/>
          </a:p>
        </p:txBody>
      </p:sp>
      <p:sp>
        <p:nvSpPr>
          <p:cNvPr id="4" name="Bar"/>
          <p:cNvSpPr/>
          <p:nvPr/>
        </p:nvSpPr>
        <p:spPr>
          <a:xfrm>
            <a:off x="457200" y="1170432"/>
            <a:ext cx="13716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/>
          <a:lstStyle/>
          <a:p>
            <a:endParaRPr lang="en-US" dirty="0"/>
          </a:p>
        </p:txBody>
      </p:sp>
      <p:pic>
        <p:nvPicPr>
          <p:cNvPr id="5" name="Char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5029200" cy="3611880"/>
          </a:xfrm>
          <a:prstGeom prst="rect">
            <a:avLst/>
          </a:prstGeom>
        </p:spPr>
      </p:pic>
      <p:sp>
        <p:nvSpPr>
          <p:cNvPr id="7" name="InsightBg"/>
          <p:cNvSpPr/>
          <p:nvPr/>
        </p:nvSpPr>
        <p:spPr>
          <a:xfrm>
            <a:off x="5943600" y="1234440"/>
            <a:ext cx="2880360" cy="36118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InsightStripe"/>
          <p:cNvSpPr/>
          <p:nvPr/>
        </p:nvSpPr>
        <p:spPr>
          <a:xfrm>
            <a:off x="5943600" y="1234440"/>
            <a:ext cx="288036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InsightTitle"/>
          <p:cNvSpPr/>
          <p:nvPr/>
        </p:nvSpPr>
        <p:spPr>
          <a:xfrm>
            <a:off x="6080760" y="1325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</a:rPr>
              <a:t>💡 Key Insight</a:t>
            </a:r>
            <a:endParaRPr lang="en-US" sz="1300" dirty="0"/>
          </a:p>
        </p:txBody>
      </p:sp>
      <p:sp>
        <p:nvSpPr>
          <p:cNvPr id="10" name="InsightBody"/>
          <p:cNvSpPr/>
          <p:nvPr/>
        </p:nvSpPr>
        <p:spPr>
          <a:xfrm>
            <a:off x="6080760" y="1764792"/>
            <a:ext cx="2606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Most titles are 'Good'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3B3B3"/>
                </a:solidFill>
                <a:latin typeface="Calibri" pitchFamily="34" charset="0"/>
              </a:rPr>
              <a:t>(rated 6–8), with a significant share rated 'Excellent' (8+). Very few titles fall in the 'Average' category, reflecting Netflix's quality curation.</a:t>
            </a:r>
            <a:endParaRPr lang="en-US" sz="1150" dirty="0"/>
          </a:p>
        </p:txBody>
      </p:sp>
      <p:sp>
        <p:nvSpPr>
          <p:cNvPr id="11" name="InsightFooter"/>
          <p:cNvSpPr/>
          <p:nvPr/>
        </p:nvSpPr>
        <p:spPr>
          <a:xfrm>
            <a:off x="6080760" y="4434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</a:rPr>
              <a:t>Categories: Excellent ≥8, Good ≥6, else Average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Viz 3 · Histogram</a:t>
            </a:r>
            <a:endParaRPr lang="en-US" sz="900" dirty="0"/>
          </a:p>
        </p:txBody>
      </p:sp>
      <p:sp>
        <p:nvSpPr>
          <p:cNvPr id="3" name="Title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18" charset="0"/>
              </a:rPr>
              <a:t>Distribution of IMDb Ratings</a:t>
            </a:r>
            <a:endParaRPr lang="en-US" sz="3000" dirty="0"/>
          </a:p>
        </p:txBody>
      </p:sp>
      <p:pic>
        <p:nvPicPr>
          <p:cNvPr id="4" name="Char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852160" cy="3749040"/>
          </a:xfrm>
          <a:prstGeom prst="rect">
            <a:avLst/>
          </a:prstGeom>
        </p:spPr>
      </p:pic>
      <p:sp>
        <p:nvSpPr>
          <p:cNvPr id="6" name="InsightBg"/>
          <p:cNvSpPr/>
          <p:nvPr/>
        </p:nvSpPr>
        <p:spPr>
          <a:xfrm>
            <a:off x="6263640" y="1188720"/>
            <a:ext cx="2560320" cy="3749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InsightStripe"/>
          <p:cNvSpPr/>
          <p:nvPr/>
        </p:nvSpPr>
        <p:spPr>
          <a:xfrm>
            <a:off x="6263640" y="1188720"/>
            <a:ext cx="256032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InsightTitle"/>
          <p:cNvSpPr/>
          <p:nvPr/>
        </p:nvSpPr>
        <p:spPr>
          <a:xfrm>
            <a:off x="64008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</a:rPr>
              <a:t>💡 Key Insight</a:t>
            </a:r>
            <a:endParaRPr lang="en-US" sz="1300" dirty="0"/>
          </a:p>
        </p:txBody>
      </p:sp>
      <p:sp>
        <p:nvSpPr>
          <p:cNvPr id="9" name="InsightBody"/>
          <p:cNvSpPr/>
          <p:nvPr/>
        </p:nvSpPr>
        <p:spPr>
          <a:xfrm>
            <a:off x="6400800" y="1719072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Ratings peak around 6–7</a:t>
            </a:r>
          </a:p>
          <a:p>
            <a:r>
              <a:rPr lang="en-US" sz="1150" dirty="0">
                <a:solidFill>
                  <a:srgbClr val="B3B3B3"/>
                </a:solidFill>
                <a:latin typeface="Calibri" pitchFamily="34" charset="0"/>
              </a:rPr>
              <a:t>forming a near-normal distribution skewed slightly right. Very few titles fall below 5 or above 9, confirming Netflix filters extremes.</a:t>
            </a:r>
            <a:endParaRPr lang="en-US" sz="1150" dirty="0"/>
          </a:p>
        </p:txBody>
      </p:sp>
      <p:sp>
        <p:nvSpPr>
          <p:cNvPr id="10" name="InsightFooter"/>
          <p:cNvSpPr/>
          <p:nvPr/>
        </p:nvSpPr>
        <p:spPr>
          <a:xfrm>
            <a:off x="640080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</a:rPr>
              <a:t>30-bin histogram, post-wrangling data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Viz 4 · Scatter Plot</a:t>
            </a:r>
            <a:endParaRPr lang="en-US" sz="900" dirty="0"/>
          </a:p>
        </p:txBody>
      </p:sp>
      <p:sp>
        <p:nvSpPr>
          <p:cNvPr id="3" name="Title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4"/>
                </a:solidFill>
                <a:latin typeface="Georgia" pitchFamily="18" charset="0"/>
              </a:rPr>
              <a:t>Rating vs Votes by Category</a:t>
            </a:r>
            <a:endParaRPr lang="en-US" sz="3000" dirty="0"/>
          </a:p>
        </p:txBody>
      </p:sp>
      <p:sp>
        <p:nvSpPr>
          <p:cNvPr id="4" name="Bar"/>
          <p:cNvSpPr/>
          <p:nvPr/>
        </p:nvSpPr>
        <p:spPr>
          <a:xfrm>
            <a:off x="457200" y="1170432"/>
            <a:ext cx="13716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/>
          <a:lstStyle/>
          <a:p>
            <a:endParaRPr lang="en-US" dirty="0"/>
          </a:p>
        </p:txBody>
      </p:sp>
      <p:pic>
        <p:nvPicPr>
          <p:cNvPr id="5" name="Char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5669280" cy="3611880"/>
          </a:xfrm>
          <a:prstGeom prst="rect">
            <a:avLst/>
          </a:prstGeom>
        </p:spPr>
      </p:pic>
      <p:sp>
        <p:nvSpPr>
          <p:cNvPr id="7" name="InsightBg"/>
          <p:cNvSpPr/>
          <p:nvPr/>
        </p:nvSpPr>
        <p:spPr>
          <a:xfrm>
            <a:off x="6126480" y="1234440"/>
            <a:ext cx="2743200" cy="36118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InsightStripe"/>
          <p:cNvSpPr/>
          <p:nvPr/>
        </p:nvSpPr>
        <p:spPr>
          <a:xfrm>
            <a:off x="6126480" y="1234440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InsightTitle"/>
          <p:cNvSpPr/>
          <p:nvPr/>
        </p:nvSpPr>
        <p:spPr>
          <a:xfrm>
            <a:off x="626364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</a:rPr>
              <a:t>💡 Key Insight</a:t>
            </a:r>
            <a:endParaRPr lang="en-US" sz="1300" dirty="0"/>
          </a:p>
        </p:txBody>
      </p:sp>
      <p:sp>
        <p:nvSpPr>
          <p:cNvPr id="10" name="InsightBody"/>
          <p:cNvSpPr/>
          <p:nvPr/>
        </p:nvSpPr>
        <p:spPr>
          <a:xfrm>
            <a:off x="6263640" y="1764792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Excellent titles attract far more votes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3B3B3"/>
                </a:solidFill>
                <a:latin typeface="Calibri" pitchFamily="34" charset="0"/>
              </a:rPr>
              <a:t>— higher-rated content generates significantly more audience engagement. Most low-vote titles cluster in the 'Good' band (6–8).</a:t>
            </a:r>
            <a:endParaRPr lang="en-US" sz="1150" dirty="0"/>
          </a:p>
        </p:txBody>
      </p:sp>
      <p:sp>
        <p:nvSpPr>
          <p:cNvPr id="11" name="InsightFooter"/>
          <p:cNvSpPr/>
          <p:nvPr/>
        </p:nvSpPr>
        <p:spPr>
          <a:xfrm>
            <a:off x="6263640" y="4434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</a:rPr>
              <a:t>Colour-coded by rating_category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Viz 5 · Line Chart</a:t>
            </a:r>
            <a:endParaRPr lang="en-US" sz="900" dirty="0"/>
          </a:p>
        </p:txBody>
      </p:sp>
      <p:sp>
        <p:nvSpPr>
          <p:cNvPr id="3" name="Title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18" charset="0"/>
              </a:rPr>
              <a:t>Titles Released Over Time</a:t>
            </a:r>
            <a:endParaRPr lang="en-US" sz="3000" dirty="0"/>
          </a:p>
        </p:txBody>
      </p:sp>
      <p:pic>
        <p:nvPicPr>
          <p:cNvPr id="4" name="Char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852160" cy="3749040"/>
          </a:xfrm>
          <a:prstGeom prst="rect">
            <a:avLst/>
          </a:prstGeom>
        </p:spPr>
      </p:pic>
      <p:sp>
        <p:nvSpPr>
          <p:cNvPr id="6" name="InsightBg"/>
          <p:cNvSpPr/>
          <p:nvPr/>
        </p:nvSpPr>
        <p:spPr>
          <a:xfrm>
            <a:off x="6263640" y="1188720"/>
            <a:ext cx="2560320" cy="3749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InsightStripe"/>
          <p:cNvSpPr/>
          <p:nvPr/>
        </p:nvSpPr>
        <p:spPr>
          <a:xfrm>
            <a:off x="6263640" y="1188720"/>
            <a:ext cx="256032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InsightTitle"/>
          <p:cNvSpPr/>
          <p:nvPr/>
        </p:nvSpPr>
        <p:spPr>
          <a:xfrm>
            <a:off x="64008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</a:rPr>
              <a:t>💡 Key Insight</a:t>
            </a:r>
            <a:endParaRPr lang="en-US" sz="1300" dirty="0"/>
          </a:p>
        </p:txBody>
      </p:sp>
      <p:sp>
        <p:nvSpPr>
          <p:cNvPr id="9" name="InsightBody"/>
          <p:cNvSpPr/>
          <p:nvPr/>
        </p:nvSpPr>
        <p:spPr>
          <a:xfrm>
            <a:off x="6400800" y="1719072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Content surged post-2010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3B3B3"/>
                </a:solidFill>
                <a:latin typeface="Calibri" pitchFamily="34" charset="0"/>
              </a:rPr>
              <a:t>with peak production around 2018–2020. The decline after 2020 reflects pandemic-era slowdowns and dataset cutoff effects.</a:t>
            </a:r>
            <a:endParaRPr lang="en-US" sz="1150" dirty="0"/>
          </a:p>
        </p:txBody>
      </p:sp>
      <p:sp>
        <p:nvSpPr>
          <p:cNvPr id="10" name="InsightFooter"/>
          <p:cNvSpPr/>
          <p:nvPr/>
        </p:nvSpPr>
        <p:spPr>
          <a:xfrm>
            <a:off x="640080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</a:rPr>
              <a:t>Filtered: year ≥ 2000, votes &gt; 1000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&amp; Business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73152" cy="8046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417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 &amp; Drama dominate by volume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Comedy (1034) and Drama (906) lead the catalog. Diversify into underrepresented genres like Biography to improve average ratings.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267712"/>
            <a:ext cx="8412480" cy="804672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267712"/>
            <a:ext cx="73152" cy="8046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267712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3134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titles are rated 'Good' (63.9%)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6791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63.9% Good, 20.7% Average, 15.4% Excellent. Push Average-rated content into Good through better curation and promotion strategy.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163824"/>
            <a:ext cx="73152" cy="8046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163824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2095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ratings peak at 7 (right-skewed)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57530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histogram shows a right-skewed distribution peaking at 7. Titles below 5 are rare — Netflix actively filters low-quality content.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059936"/>
            <a:ext cx="8412480" cy="804672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059936"/>
            <a:ext cx="73152" cy="8046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059936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1056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titles attract far more votes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47141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Scatter plot confirms: Excellent-rated titles (8+) accumulate up to 1.8M+ votes. Content quality directly drives audience engagement and visibility.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3B3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"Your project is not about graphs...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B3B3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about telling a story using data."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2148840"/>
            <a:ext cx="1828800" cy="3657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validated a 9,957-row dataset through rigorous wrangling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706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Documentary &amp; Biography as top-performing genres by rating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0954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 of Netflix content targets adult audiences (TV-MA / TV-14)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64845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correlation between audience votes and content quality rating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0873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production peaked in the 2010s — the streaming boom decade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797</Words>
  <Application>Microsoft Macintosh PowerPoint</Application>
  <PresentationFormat>On-screen Show (16:9)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Analysis – Capstone Project</dc:title>
  <dc:subject>PptxGenJS Presentation</dc:subject>
  <dc:creator>PptxGenJS</dc:creator>
  <cp:lastModifiedBy>Aarush Gupta</cp:lastModifiedBy>
  <cp:revision>2</cp:revision>
  <dcterms:created xsi:type="dcterms:W3CDTF">2026-04-22T03:56:01Z</dcterms:created>
  <dcterms:modified xsi:type="dcterms:W3CDTF">2026-04-23T11:55:00Z</dcterms:modified>
</cp:coreProperties>
</file>