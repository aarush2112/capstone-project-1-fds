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31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1433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DATA SCIENCE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Netflix Content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6675120" y="1188720"/>
            <a:ext cx="54864" cy="201168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12280" y="11887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9,000+ titles to uncover trends,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patterns, and content strategy insights.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12280" y="2743200"/>
            <a:ext cx="2011680" cy="45720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12280" y="2743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n_movies.csv  |  9,957 rows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4709160"/>
            <a:ext cx="9144000" cy="429768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Aarush Gupta  ·  Kashish  ·  Mannat Bansal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92608"/>
          </a:xfrm>
          <a:prstGeom prst="roundRect">
            <a:avLst>
              <a:gd name="adj" fmla="val 18750"/>
            </a:avLst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0" y="1234440"/>
            <a:ext cx="914400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2651760" cy="320040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463040"/>
            <a:ext cx="26517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6459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cs typeface="Calibri" pitchFamily="34" charset="-120"/>
              </a:rPr>
              <a:t>🏢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types of content perform best on Netflix, and what drives high viewer ratings?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54680" y="1463040"/>
            <a:ext cx="2651760" cy="320040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54680" y="1463040"/>
            <a:ext cx="26517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54680" y="16459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9184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91840" y="27889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platforms invest billions in content — understanding patterns helps optimize production strategy.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89320" y="1463040"/>
            <a:ext cx="2651760" cy="320040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989320" y="1463040"/>
            <a:ext cx="26517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989320" y="16459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12648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26480" y="27889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data wrangling and visualization to surface actionable insights from 9,957 Netflix titles.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92608"/>
          </a:xfrm>
          <a:prstGeom prst="roundRect">
            <a:avLst>
              <a:gd name="adj" fmla="val 18750"/>
            </a:avLst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DATASET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1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Description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316583"/>
            <a:ext cx="1828800" cy="100584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362303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9,957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910943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Titles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1316583"/>
            <a:ext cx="1828800" cy="100584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68880" y="1362303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68880" y="1910943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1316583"/>
            <a:ext cx="1828800" cy="100584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1362303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1920s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72000" y="1910943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Oldest Year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675120" y="1316583"/>
            <a:ext cx="1828800" cy="100584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75120" y="1362303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675120" y="1910943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Year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05137"/>
              </p:ext>
            </p:extLst>
          </p:nvPr>
        </p:nvGraphicFramePr>
        <p:xfrm>
          <a:off x="412255" y="2381317"/>
          <a:ext cx="8046720" cy="27076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of the show/movie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year or 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rating (TV-MA, PG, etc.)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in minutes or seasons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Genre tags (may be multiple)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IMDb-style user rating (0–10)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plot summary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cast members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user votes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bg"/>
          <p:cNvSpPr/>
          <p:nvPr/>
        </p:nvSpPr>
        <p:spPr>
          <a:xfrm>
            <a:off x="457200" y="164592"/>
            <a:ext cx="1645920" cy="292608"/>
          </a:xfrm>
          <a:prstGeom prst="roundRect">
            <a:avLst>
              <a:gd name="adj" fmla="val 18750"/>
            </a:avLst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03 · WRANGLING</a:t>
            </a:r>
            <a:endParaRPr lang="en-US" sz="900" dirty="0"/>
          </a:p>
        </p:txBody>
      </p:sp>
      <p:sp>
        <p:nvSpPr>
          <p:cNvPr id="3" name="Title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18" charset="0"/>
              </a:rPr>
              <a:t>Data Wrangling Steps</a:t>
            </a:r>
            <a:endParaRPr lang="en-US" sz="3400" dirty="0"/>
          </a:p>
        </p:txBody>
      </p:sp>
      <p:sp>
        <p:nvSpPr>
          <p:cNvPr id="4" name="Accent bar"/>
          <p:cNvSpPr/>
          <p:nvPr/>
        </p:nvSpPr>
        <p:spPr>
          <a:xfrm>
            <a:off x="0" y="1188720"/>
            <a:ext cx="914400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Card bg 01"/>
          <p:cNvSpPr/>
          <p:nvPr/>
        </p:nvSpPr>
        <p:spPr>
          <a:xfrm>
            <a:off x="320040" y="1371600"/>
            <a:ext cx="4114800" cy="173736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Badge 01"/>
          <p:cNvSpPr/>
          <p:nvPr/>
        </p:nvSpPr>
        <p:spPr>
          <a:xfrm>
            <a:off x="320040" y="1371600"/>
            <a:ext cx="548640" cy="173736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18" charset="0"/>
              </a:rPr>
              <a:t>01</a:t>
            </a:r>
            <a:endParaRPr lang="en-US" sz="1500" dirty="0"/>
          </a:p>
        </p:txBody>
      </p:sp>
      <p:sp>
        <p:nvSpPr>
          <p:cNvPr id="7" name="Step title 01"/>
          <p:cNvSpPr/>
          <p:nvPr/>
        </p:nvSpPr>
        <p:spPr>
          <a:xfrm>
            <a:off x="96012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</a:rPr>
              <a:t>Load &amp; Inspect</a:t>
            </a:r>
            <a:endParaRPr lang="en-US" sz="1300" dirty="0"/>
          </a:p>
        </p:txBody>
      </p:sp>
      <p:sp>
        <p:nvSpPr>
          <p:cNvPr id="8" name="Bullet 01-0"/>
          <p:cNvSpPr/>
          <p:nvPr/>
        </p:nvSpPr>
        <p:spPr>
          <a:xfrm>
            <a:off x="960120" y="18745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Read CSV with pandas</a:t>
            </a:r>
            <a:endParaRPr lang="en-US" sz="1100" dirty="0"/>
          </a:p>
        </p:txBody>
      </p:sp>
      <p:sp>
        <p:nvSpPr>
          <p:cNvPr id="9" name="Bullet 01-1"/>
          <p:cNvSpPr/>
          <p:nvPr/>
        </p:nvSpPr>
        <p:spPr>
          <a:xfrm>
            <a:off x="960120" y="222199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Check shape, dtypes, .head()</a:t>
            </a:r>
            <a:endParaRPr lang="en-US" sz="1100" dirty="0"/>
          </a:p>
        </p:txBody>
      </p:sp>
      <p:sp>
        <p:nvSpPr>
          <p:cNvPr id="10" name="Bullet 01-2"/>
          <p:cNvSpPr/>
          <p:nvPr/>
        </p:nvSpPr>
        <p:spPr>
          <a:xfrm>
            <a:off x="960120" y="256946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Identify null counts per column</a:t>
            </a:r>
            <a:endParaRPr lang="en-US" sz="1100" dirty="0"/>
          </a:p>
        </p:txBody>
      </p:sp>
      <p:sp>
        <p:nvSpPr>
          <p:cNvPr id="11" name="Card bg 02"/>
          <p:cNvSpPr/>
          <p:nvPr/>
        </p:nvSpPr>
        <p:spPr>
          <a:xfrm>
            <a:off x="4709160" y="1371600"/>
            <a:ext cx="4114800" cy="173736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Badge 02"/>
          <p:cNvSpPr/>
          <p:nvPr/>
        </p:nvSpPr>
        <p:spPr>
          <a:xfrm>
            <a:off x="4709160" y="1371600"/>
            <a:ext cx="548640" cy="173736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18" charset="0"/>
              </a:rPr>
              <a:t>02</a:t>
            </a:r>
            <a:endParaRPr lang="en-US" sz="1500" dirty="0"/>
          </a:p>
        </p:txBody>
      </p:sp>
      <p:sp>
        <p:nvSpPr>
          <p:cNvPr id="13" name="Step title 02"/>
          <p:cNvSpPr/>
          <p:nvPr/>
        </p:nvSpPr>
        <p:spPr>
          <a:xfrm>
            <a:off x="534924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</a:rPr>
              <a:t>Handle Missing Values</a:t>
            </a:r>
            <a:endParaRPr lang="en-US" sz="1300" dirty="0"/>
          </a:p>
        </p:txBody>
      </p:sp>
      <p:sp>
        <p:nvSpPr>
          <p:cNvPr id="14" name="Bullet 02-0"/>
          <p:cNvSpPr/>
          <p:nvPr/>
        </p:nvSpPr>
        <p:spPr>
          <a:xfrm>
            <a:off x="5349240" y="18745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Dropped rows with null rating/votes</a:t>
            </a:r>
            <a:endParaRPr lang="en-US" sz="1100" dirty="0"/>
          </a:p>
        </p:txBody>
      </p:sp>
      <p:sp>
        <p:nvSpPr>
          <p:cNvPr id="15" name="Bullet 02-1"/>
          <p:cNvSpPr/>
          <p:nvPr/>
        </p:nvSpPr>
        <p:spPr>
          <a:xfrm>
            <a:off x="5349240" y="222199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Filled certificate NaN → 'Not Rated'</a:t>
            </a:r>
            <a:endParaRPr lang="en-US" sz="1100" dirty="0"/>
          </a:p>
        </p:txBody>
      </p:sp>
      <p:sp>
        <p:nvSpPr>
          <p:cNvPr id="16" name="Bullet 02-2"/>
          <p:cNvSpPr/>
          <p:nvPr/>
        </p:nvSpPr>
        <p:spPr>
          <a:xfrm>
            <a:off x="5349240" y="256946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Checked description completeness</a:t>
            </a:r>
            <a:endParaRPr lang="en-US" sz="1100" dirty="0"/>
          </a:p>
        </p:txBody>
      </p:sp>
      <p:sp>
        <p:nvSpPr>
          <p:cNvPr id="17" name="Card bg 03"/>
          <p:cNvSpPr/>
          <p:nvPr/>
        </p:nvSpPr>
        <p:spPr>
          <a:xfrm>
            <a:off x="320040" y="3246120"/>
            <a:ext cx="4114800" cy="173736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Badge 03"/>
          <p:cNvSpPr/>
          <p:nvPr/>
        </p:nvSpPr>
        <p:spPr>
          <a:xfrm>
            <a:off x="320040" y="3246120"/>
            <a:ext cx="548640" cy="173736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18" charset="0"/>
              </a:rPr>
              <a:t>03</a:t>
            </a:r>
            <a:endParaRPr lang="en-US" sz="1500" dirty="0"/>
          </a:p>
        </p:txBody>
      </p:sp>
      <p:sp>
        <p:nvSpPr>
          <p:cNvPr id="19" name="Step title 03"/>
          <p:cNvSpPr/>
          <p:nvPr/>
        </p:nvSpPr>
        <p:spPr>
          <a:xfrm>
            <a:off x="960120" y="33375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</a:rPr>
              <a:t>Fix Data Types</a:t>
            </a:r>
            <a:endParaRPr lang="en-US" sz="1300" dirty="0"/>
          </a:p>
        </p:txBody>
      </p:sp>
      <p:sp>
        <p:nvSpPr>
          <p:cNvPr id="20" name="Bullet 03-0"/>
          <p:cNvSpPr/>
          <p:nvPr/>
        </p:nvSpPr>
        <p:spPr>
          <a:xfrm>
            <a:off x="960120" y="3749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Cleaned 'votes' column (removed commas)</a:t>
            </a:r>
            <a:endParaRPr lang="en-US" sz="1100" dirty="0"/>
          </a:p>
        </p:txBody>
      </p:sp>
      <p:sp>
        <p:nvSpPr>
          <p:cNvPr id="21" name="Bullet 03-1"/>
          <p:cNvSpPr/>
          <p:nvPr/>
        </p:nvSpPr>
        <p:spPr>
          <a:xfrm>
            <a:off x="960120" y="40965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Converted votes → int64</a:t>
            </a:r>
            <a:endParaRPr lang="en-US" sz="1100" dirty="0"/>
          </a:p>
        </p:txBody>
      </p:sp>
      <p:sp>
        <p:nvSpPr>
          <p:cNvPr id="22" name="Bullet 03-2"/>
          <p:cNvSpPr/>
          <p:nvPr/>
        </p:nvSpPr>
        <p:spPr>
          <a:xfrm>
            <a:off x="960120" y="444398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Extracted numeric year from year column</a:t>
            </a:r>
            <a:endParaRPr lang="en-US" sz="1100" dirty="0"/>
          </a:p>
        </p:txBody>
      </p:sp>
      <p:sp>
        <p:nvSpPr>
          <p:cNvPr id="23" name="Card bg 04"/>
          <p:cNvSpPr/>
          <p:nvPr/>
        </p:nvSpPr>
        <p:spPr>
          <a:xfrm>
            <a:off x="4709160" y="3246120"/>
            <a:ext cx="4114800" cy="173736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Badge 04"/>
          <p:cNvSpPr/>
          <p:nvPr/>
        </p:nvSpPr>
        <p:spPr>
          <a:xfrm>
            <a:off x="4709160" y="3246120"/>
            <a:ext cx="548640" cy="173736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18" charset="0"/>
              </a:rPr>
              <a:t>04</a:t>
            </a:r>
            <a:endParaRPr lang="en-US" sz="1500" dirty="0"/>
          </a:p>
        </p:txBody>
      </p:sp>
      <p:sp>
        <p:nvSpPr>
          <p:cNvPr id="25" name="Step title 04"/>
          <p:cNvSpPr/>
          <p:nvPr/>
        </p:nvSpPr>
        <p:spPr>
          <a:xfrm>
            <a:off x="5349240" y="33375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</a:rPr>
              <a:t>Transform &amp; Engineer</a:t>
            </a:r>
            <a:endParaRPr lang="en-US" sz="1300" dirty="0"/>
          </a:p>
        </p:txBody>
      </p:sp>
      <p:sp>
        <p:nvSpPr>
          <p:cNvPr id="26" name="Bullet 04-0"/>
          <p:cNvSpPr/>
          <p:nvPr/>
        </p:nvSpPr>
        <p:spPr>
          <a:xfrm>
            <a:off x="5349240" y="3749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Extracted primary genre from multi-genre field</a:t>
            </a:r>
            <a:endParaRPr lang="en-US" sz="1100" dirty="0"/>
          </a:p>
        </p:txBody>
      </p:sp>
      <p:sp>
        <p:nvSpPr>
          <p:cNvPr id="27" name="Bullet 04-1"/>
          <p:cNvSpPr/>
          <p:nvPr/>
        </p:nvSpPr>
        <p:spPr>
          <a:xfrm>
            <a:off x="5349240" y="40965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Cleaned duration to numeric minutes</a:t>
            </a:r>
            <a:endParaRPr lang="en-US" sz="1100" dirty="0"/>
          </a:p>
        </p:txBody>
      </p:sp>
      <p:sp>
        <p:nvSpPr>
          <p:cNvPr id="28" name="Bullet 04-2"/>
          <p:cNvSpPr/>
          <p:nvPr/>
        </p:nvSpPr>
        <p:spPr>
          <a:xfrm>
            <a:off x="5349240" y="444398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0914"/>
                </a:solidFill>
                <a:latin typeface="Calibri" pitchFamily="34" charset="0"/>
              </a:rPr>
              <a:t>▸ </a:t>
            </a:r>
            <a:r>
              <a:rPr lang="en-US" sz="1100" dirty="0">
                <a:solidFill>
                  <a:srgbClr val="B3B3B3"/>
                </a:solidFill>
                <a:latin typeface="Calibri" pitchFamily="34" charset="0"/>
              </a:rPr>
              <a:t>Created decade column from year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92608"/>
          </a:xfrm>
          <a:prstGeom prst="roundRect">
            <a:avLst>
              <a:gd name="adj" fmla="val 18750"/>
            </a:avLst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VISUALIZATIONS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1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5 Key Visualizations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371600"/>
            <a:ext cx="2606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371600"/>
            <a:ext cx="260604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463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Plot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genres by number of titles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1371600"/>
            <a:ext cx="2606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54680" y="1371600"/>
            <a:ext cx="260604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54680" y="1463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🥧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246120" y="1965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46120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/ Good / Average rating categories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89320" y="1371600"/>
            <a:ext cx="2606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989320" y="1371600"/>
            <a:ext cx="260604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989320" y="1463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📈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080760" y="1965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80760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of IMDb ratings across titles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645920" y="3063240"/>
            <a:ext cx="2606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645920" y="3063240"/>
            <a:ext cx="260604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645920" y="31546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737360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73736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vs Votes colour-coded by category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80560" y="3063240"/>
            <a:ext cx="2606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480560" y="3063240"/>
            <a:ext cx="260604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480560" y="31546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📈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572000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titles released per year (2000–2025)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164592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Viz 1 · Bar Chart</a:t>
            </a:r>
            <a:endParaRPr lang="en-US" sz="900" dirty="0"/>
          </a:p>
        </p:txBody>
      </p:sp>
      <p:sp>
        <p:nvSpPr>
          <p:cNvPr id="3" name="Title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18" charset="0"/>
              </a:rPr>
              <a:t>Top 10 Genres by Number of Titles</a:t>
            </a:r>
            <a:endParaRPr lang="en-US" sz="3000" dirty="0"/>
          </a:p>
        </p:txBody>
      </p:sp>
      <p:pic>
        <p:nvPicPr>
          <p:cNvPr id="4" name="Chart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5852160" cy="3749040"/>
          </a:xfrm>
          <a:prstGeom prst="rect">
            <a:avLst/>
          </a:prstGeom>
        </p:spPr>
      </p:pic>
      <p:sp>
        <p:nvSpPr>
          <p:cNvPr id="6" name="InsightBg"/>
          <p:cNvSpPr/>
          <p:nvPr/>
        </p:nvSpPr>
        <p:spPr>
          <a:xfrm>
            <a:off x="6263640" y="1188720"/>
            <a:ext cx="2560320" cy="37490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InsightStripe"/>
          <p:cNvSpPr/>
          <p:nvPr/>
        </p:nvSpPr>
        <p:spPr>
          <a:xfrm>
            <a:off x="6263640" y="1188720"/>
            <a:ext cx="256032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InsightTitle"/>
          <p:cNvSpPr/>
          <p:nvPr/>
        </p:nvSpPr>
        <p:spPr>
          <a:xfrm>
            <a:off x="640080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</a:rPr>
              <a:t>💡 Key Insight</a:t>
            </a:r>
            <a:endParaRPr lang="en-US" sz="1300" dirty="0"/>
          </a:p>
        </p:txBody>
      </p:sp>
      <p:sp>
        <p:nvSpPr>
          <p:cNvPr id="9" name="InsightBody"/>
          <p:cNvSpPr/>
          <p:nvPr/>
        </p:nvSpPr>
        <p:spPr>
          <a:xfrm>
            <a:off x="6400800" y="1719072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Comedy dominates Netflix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Comedy (1,034) leads catalog by volume; Drama (906) follows.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🔍 Why This Happens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Comedy's broad demographic appeal drives high production volume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Niche genres like Documentary win on quality, not quantity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📌 Business Impact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Diversify into Biography &amp; Crime to lift avg. catalog rating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Comedy saturation reduces differentiation for new entrants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📊 Highlight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Documentary avg. rating ~0.8 pts higher than Comedy despite 60% fewer titles</a:t>
            </a:r>
          </a:p>
        </p:txBody>
      </p:sp>
      <p:sp>
        <p:nvSpPr>
          <p:cNvPr id="10" name="InsightFooter"/>
          <p:cNvSpPr/>
          <p:nvPr/>
        </p:nvSpPr>
        <p:spPr>
          <a:xfrm>
            <a:off x="6400800" y="4526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</a:rPr>
              <a:t>Primary genre extracted from multi-genre field; top 10 by count shown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164592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Viz 2 · Pie Chart</a:t>
            </a:r>
            <a:endParaRPr lang="en-US" sz="900" dirty="0"/>
          </a:p>
        </p:txBody>
      </p:sp>
      <p:sp>
        <p:nvSpPr>
          <p:cNvPr id="3" name="Title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414"/>
                </a:solidFill>
                <a:latin typeface="Georgia" pitchFamily="18" charset="0"/>
              </a:rPr>
              <a:t>Rating Category Distribution</a:t>
            </a:r>
            <a:endParaRPr lang="en-US" sz="3000" dirty="0"/>
          </a:p>
        </p:txBody>
      </p:sp>
      <p:sp>
        <p:nvSpPr>
          <p:cNvPr id="4" name="Bar"/>
          <p:cNvSpPr/>
          <p:nvPr/>
        </p:nvSpPr>
        <p:spPr>
          <a:xfrm>
            <a:off x="457200" y="1170432"/>
            <a:ext cx="137160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Chart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5029200" cy="3611880"/>
          </a:xfrm>
          <a:prstGeom prst="rect">
            <a:avLst/>
          </a:prstGeom>
        </p:spPr>
      </p:pic>
      <p:sp>
        <p:nvSpPr>
          <p:cNvPr id="7" name="InsightBg"/>
          <p:cNvSpPr/>
          <p:nvPr/>
        </p:nvSpPr>
        <p:spPr>
          <a:xfrm>
            <a:off x="5943600" y="1234440"/>
            <a:ext cx="2880360" cy="3611880"/>
          </a:xfrm>
          <a:prstGeom prst="rect">
            <a:avLst/>
          </a:prstGeom>
          <a:solidFill>
            <a:srgbClr val="141414"/>
          </a:solidFill>
          <a:ln w="12700">
            <a:solidFill>
              <a:srgbClr val="141414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InsightStripe"/>
          <p:cNvSpPr/>
          <p:nvPr/>
        </p:nvSpPr>
        <p:spPr>
          <a:xfrm>
            <a:off x="5943600" y="1234440"/>
            <a:ext cx="28803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InsightTitle"/>
          <p:cNvSpPr/>
          <p:nvPr/>
        </p:nvSpPr>
        <p:spPr>
          <a:xfrm>
            <a:off x="6080760" y="13258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</a:rPr>
              <a:t>💡 Key Insight</a:t>
            </a:r>
            <a:endParaRPr lang="en-US" sz="1300" dirty="0"/>
          </a:p>
        </p:txBody>
      </p:sp>
      <p:sp>
        <p:nvSpPr>
          <p:cNvPr id="10" name="InsightBody"/>
          <p:cNvSpPr/>
          <p:nvPr/>
        </p:nvSpPr>
        <p:spPr>
          <a:xfrm>
            <a:off x="6080760" y="1764792"/>
            <a:ext cx="26060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Most content is rated ‘Good’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63.9% of titles rated Good (6-8); only 15.4% reach Excellent (8+).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🔍 Why This Happens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Netflix curates actively — very few sub-5 titles survive in catalog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Platform algorithmic promotion favors mid-tier ‘Good’ content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📌 Business Impact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Push Average-rated titles to Good via targeted editorial curation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Invest in Excellent-tier content to boost subscriber retention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📊 Highlight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Only 1 in 6 titles achieves Excellent status (8+ rating) on the platform</a:t>
            </a:r>
          </a:p>
        </p:txBody>
      </p:sp>
      <p:sp>
        <p:nvSpPr>
          <p:cNvPr id="11" name="InsightFooter"/>
          <p:cNvSpPr/>
          <p:nvPr/>
        </p:nvSpPr>
        <p:spPr>
          <a:xfrm>
            <a:off x="6080760" y="44348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</a:rPr>
              <a:t>Categories: Excellent ≥8, Good ≥6, Average &lt;6; rows with null ratings dropped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164592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Viz 3 · Histogram</a:t>
            </a:r>
            <a:endParaRPr lang="en-US" sz="900" dirty="0"/>
          </a:p>
        </p:txBody>
      </p:sp>
      <p:sp>
        <p:nvSpPr>
          <p:cNvPr id="3" name="Title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18" charset="0"/>
              </a:rPr>
              <a:t>Distribution of IMDb Ratings</a:t>
            </a:r>
            <a:endParaRPr lang="en-US" sz="3000" dirty="0"/>
          </a:p>
        </p:txBody>
      </p:sp>
      <p:pic>
        <p:nvPicPr>
          <p:cNvPr id="4" name="Chart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5852160" cy="3749040"/>
          </a:xfrm>
          <a:prstGeom prst="rect">
            <a:avLst/>
          </a:prstGeom>
        </p:spPr>
      </p:pic>
      <p:sp>
        <p:nvSpPr>
          <p:cNvPr id="6" name="InsightBg"/>
          <p:cNvSpPr/>
          <p:nvPr/>
        </p:nvSpPr>
        <p:spPr>
          <a:xfrm>
            <a:off x="6263640" y="1188720"/>
            <a:ext cx="2560320" cy="37490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InsightStripe"/>
          <p:cNvSpPr/>
          <p:nvPr/>
        </p:nvSpPr>
        <p:spPr>
          <a:xfrm>
            <a:off x="6263640" y="1188720"/>
            <a:ext cx="256032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InsightTitle"/>
          <p:cNvSpPr/>
          <p:nvPr/>
        </p:nvSpPr>
        <p:spPr>
          <a:xfrm>
            <a:off x="640080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</a:rPr>
              <a:t>💡 Key Insight</a:t>
            </a:r>
            <a:endParaRPr lang="en-US" sz="1300" dirty="0"/>
          </a:p>
        </p:txBody>
      </p:sp>
      <p:sp>
        <p:nvSpPr>
          <p:cNvPr id="9" name="InsightBody"/>
          <p:cNvSpPr/>
          <p:nvPr/>
        </p:nvSpPr>
        <p:spPr>
          <a:xfrm>
            <a:off x="6400800" y="1719072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Ratings peak at 6-7 (right-skewed)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Near-normal distribution; very few titles below 5 or above 9.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🔍 Why This Happens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Netflix filters low-quality content before it accumulates enough votes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Audience rating behavior clusters around ‘above average’ threshold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📌 Business Impact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Titles in the 6-7 range are breakout candidates with the right marketing push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Avoid investing in sub-6 content — low ceiling for audience engagement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📊 Highlight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Less than 5% of all titles score below 5 — Netflix's quality floor holds</a:t>
            </a:r>
          </a:p>
        </p:txBody>
      </p:sp>
      <p:sp>
        <p:nvSpPr>
          <p:cNvPr id="10" name="InsightFooter"/>
          <p:cNvSpPr/>
          <p:nvPr/>
        </p:nvSpPr>
        <p:spPr>
          <a:xfrm>
            <a:off x="6400800" y="4526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</a:rPr>
              <a:t>30-bin histogram; post-wrangling data with nulls removed and votes &gt; 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164592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Viz 4 · Scatter Plot</a:t>
            </a:r>
            <a:endParaRPr lang="en-US" sz="900" dirty="0"/>
          </a:p>
        </p:txBody>
      </p:sp>
      <p:sp>
        <p:nvSpPr>
          <p:cNvPr id="3" name="Title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414"/>
                </a:solidFill>
                <a:latin typeface="Georgia" pitchFamily="18" charset="0"/>
              </a:rPr>
              <a:t>Rating vs Votes by Category</a:t>
            </a:r>
            <a:endParaRPr lang="en-US" sz="3000" dirty="0"/>
          </a:p>
        </p:txBody>
      </p:sp>
      <p:sp>
        <p:nvSpPr>
          <p:cNvPr id="4" name="Bar"/>
          <p:cNvSpPr/>
          <p:nvPr/>
        </p:nvSpPr>
        <p:spPr>
          <a:xfrm>
            <a:off x="457200" y="1170432"/>
            <a:ext cx="137160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Chart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34440"/>
            <a:ext cx="5669280" cy="3611880"/>
          </a:xfrm>
          <a:prstGeom prst="rect">
            <a:avLst/>
          </a:prstGeom>
        </p:spPr>
      </p:pic>
      <p:sp>
        <p:nvSpPr>
          <p:cNvPr id="7" name="InsightBg"/>
          <p:cNvSpPr/>
          <p:nvPr/>
        </p:nvSpPr>
        <p:spPr>
          <a:xfrm>
            <a:off x="6126480" y="1234440"/>
            <a:ext cx="2743200" cy="3611880"/>
          </a:xfrm>
          <a:prstGeom prst="rect">
            <a:avLst/>
          </a:prstGeom>
          <a:solidFill>
            <a:srgbClr val="141414"/>
          </a:solidFill>
          <a:ln w="12700">
            <a:solidFill>
              <a:srgbClr val="141414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InsightStripe"/>
          <p:cNvSpPr/>
          <p:nvPr/>
        </p:nvSpPr>
        <p:spPr>
          <a:xfrm>
            <a:off x="6126480" y="1234440"/>
            <a:ext cx="274320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InsightTitle"/>
          <p:cNvSpPr/>
          <p:nvPr/>
        </p:nvSpPr>
        <p:spPr>
          <a:xfrm>
            <a:off x="62636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</a:rPr>
              <a:t>💡 Key Insight</a:t>
            </a:r>
            <a:endParaRPr lang="en-US" sz="1300" dirty="0"/>
          </a:p>
        </p:txBody>
      </p:sp>
      <p:sp>
        <p:nvSpPr>
          <p:cNvPr id="10" name="InsightBody"/>
          <p:cNvSpPr/>
          <p:nvPr/>
        </p:nvSpPr>
        <p:spPr>
          <a:xfrm>
            <a:off x="6263640" y="1764792"/>
            <a:ext cx="2468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Quality drives audience engagement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Excellent titles attract far more votes than Good or Average peers.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🔍 Why This Happens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Higher-rated content earns algorithmic boost, amplifying vote accumulation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Viewer word-of-mouth compounds for standout quality titles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📌 Business Impact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Prioritize quality over quantity — each Excellent title delivers outsized ROI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Engagement metrics can be used to predict future rating trajectory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📊 Highlight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Excellent-rated titles accumulate up to 1.8M+ votes vs avg. 50K for Good tier</a:t>
            </a:r>
          </a:p>
        </p:txBody>
      </p:sp>
      <p:sp>
        <p:nvSpPr>
          <p:cNvPr id="11" name="InsightFooter"/>
          <p:cNvSpPr/>
          <p:nvPr/>
        </p:nvSpPr>
        <p:spPr>
          <a:xfrm>
            <a:off x="6263640" y="4434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</a:rPr>
              <a:t>Scatter plot color-coded by rating_category; log scale on votes axis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164592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Viz 5 · Line Chart</a:t>
            </a:r>
            <a:endParaRPr lang="en-US" sz="900" dirty="0"/>
          </a:p>
        </p:txBody>
      </p:sp>
      <p:sp>
        <p:nvSpPr>
          <p:cNvPr id="3" name="Title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18" charset="0"/>
              </a:rPr>
              <a:t>Titles Released Over Time</a:t>
            </a:r>
            <a:endParaRPr lang="en-US" sz="3000" dirty="0"/>
          </a:p>
        </p:txBody>
      </p:sp>
      <p:pic>
        <p:nvPicPr>
          <p:cNvPr id="4" name="Chart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5852160" cy="3749040"/>
          </a:xfrm>
          <a:prstGeom prst="rect">
            <a:avLst/>
          </a:prstGeom>
        </p:spPr>
      </p:pic>
      <p:sp>
        <p:nvSpPr>
          <p:cNvPr id="6" name="InsightBg"/>
          <p:cNvSpPr/>
          <p:nvPr/>
        </p:nvSpPr>
        <p:spPr>
          <a:xfrm>
            <a:off x="6263640" y="1188720"/>
            <a:ext cx="2560320" cy="37490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InsightStripe"/>
          <p:cNvSpPr/>
          <p:nvPr/>
        </p:nvSpPr>
        <p:spPr>
          <a:xfrm>
            <a:off x="6263640" y="1188720"/>
            <a:ext cx="256032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InsightTitle"/>
          <p:cNvSpPr/>
          <p:nvPr/>
        </p:nvSpPr>
        <p:spPr>
          <a:xfrm>
            <a:off x="640080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</a:rPr>
              <a:t>💡 Key Insight</a:t>
            </a:r>
            <a:endParaRPr lang="en-US" sz="1300" dirty="0"/>
          </a:p>
        </p:txBody>
      </p:sp>
      <p:sp>
        <p:nvSpPr>
          <p:cNvPr id="9" name="InsightBody"/>
          <p:cNvSpPr/>
          <p:nvPr/>
        </p:nvSpPr>
        <p:spPr>
          <a:xfrm>
            <a:off x="6400800" y="1719072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Content surged post-2010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Peak production 2018-2020; post-2020 dip reflects pandemic &amp; cutoff effects.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🔍 Why This Happens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Global streaming boom (2015-2020) triggered massive original content investment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COVID-19 disrupted production pipelines causing measurable post-2020 decline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📌 Business Impact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2015-2020 is the ‘golden window’ — benchmark content quality from this era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Production recovery post-2021 signals renewed platform confidence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50914"/>
                </a:solidFill>
                <a:latin typeface="Calibri" pitchFamily="34" charset="0"/>
              </a:rPr>
              <a:t>📊 Highlight</a:t>
            </a:r>
          </a:p>
          <a:p>
            <a:pPr marL="0" indent="0">
              <a:buNone/>
            </a:pPr>
            <a:r>
              <a:rPr lang="en-US" sz="850" dirty="0">
                <a:solidFill>
                  <a:srgbClr val="B3B3B3"/>
                </a:solidFill>
                <a:latin typeface="Calibri" pitchFamily="34" charset="0"/>
              </a:rPr>
              <a:t>▸ Netflix-era titles (2015-2020) represent 45%+ of total catalog by volume</a:t>
            </a:r>
          </a:p>
        </p:txBody>
      </p:sp>
      <p:sp>
        <p:nvSpPr>
          <p:cNvPr id="10" name="InsightFooter"/>
          <p:cNvSpPr/>
          <p:nvPr/>
        </p:nvSpPr>
        <p:spPr>
          <a:xfrm>
            <a:off x="6400800" y="4526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</a:rPr>
              <a:t>Filtered: year ≥ 2000, votes &gt; 1,000; year extracted from range strings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92608"/>
          </a:xfrm>
          <a:prstGeom prst="roundRect">
            <a:avLst>
              <a:gd name="adj" fmla="val 18750"/>
            </a:avLst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INSIGHTS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Insights &amp; Business Recommendations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8412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73152" cy="804672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🎬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141732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Comedy &amp; Drama dominate by volume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783080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Comedy (1034) and Drama (906) lead the catalog. Diversify into underrepresented genres like Biography to improve average ratings.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267712"/>
            <a:ext cx="8412480" cy="804672"/>
          </a:xfrm>
          <a:prstGeom prst="rect">
            <a:avLst/>
          </a:prstGeom>
          <a:solidFill>
            <a:srgbClr val="F0F0F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267712"/>
            <a:ext cx="73152" cy="804672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2267712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231343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titles are rated 'Good' (63.9%)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67919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63.9% Good, 20.7% Average, 15.4% Excellent. Push Average-rated content into Good through better curation and promotion strategy.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163824"/>
            <a:ext cx="8412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163824"/>
            <a:ext cx="73152" cy="804672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163824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97280" y="32095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IMDb ratings peak at 7 (right-skewed)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3575304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histogram shows a right-skewed distribution peaking at 7. Titles below 5 are rare — Netflix actively filters low-quality content.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4059936"/>
            <a:ext cx="8412480" cy="804672"/>
          </a:xfrm>
          <a:prstGeom prst="rect">
            <a:avLst/>
          </a:prstGeom>
          <a:solidFill>
            <a:srgbClr val="F0F0F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4059936"/>
            <a:ext cx="73152" cy="804672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" y="4059936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🔥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97280" y="410565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titles attract far more votes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97280" y="4471416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Scatter plot confirms: Excellent-rated titles (8+) accumulate up to 1.8M+ votes. Content quality directly drives audience engagement and visibility.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B3B3B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"Your project is not about graphs...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i="1" dirty="0">
                <a:solidFill>
                  <a:srgbClr val="B3B3B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about telling a story using data."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0" y="2148840"/>
            <a:ext cx="1828800" cy="36576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and validated a 9,957-row dataset through rigorous wrangling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77063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Documentary &amp; Biography as top-performing genres by rating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20954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60%+ of Netflix content targets adult audiences (TV-MA / TV-14)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64845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correlation between audience votes and content quality rating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08736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production peaked in the 2010s — the streaming boom decade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709160"/>
            <a:ext cx="9144000" cy="429768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8229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1130</Words>
  <Application>Microsoft Macintosh PowerPoint</Application>
  <PresentationFormat>On-screen Show (16:9)</PresentationFormat>
  <Paragraphs>202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Netflix Content Analysis – Capstone Project</dc:title>
  <dc:subject>PptxGenJS Presentation</dc:subject>
  <dc:creator>PptxGenJS</dc:creator>
  <cp:lastModifiedBy>Aarush Gupta</cp:lastModifiedBy>
  <cp:revision>3</cp:revision>
  <dcterms:created xsi:type="dcterms:W3CDTF">2026-04-22T03:56:01Z</dcterms:created>
  <dcterms:modified xsi:type="dcterms:W3CDTF">2026-04-25T05:16:18Z</dcterms:modified>
</cp:coreProperties>
</file>